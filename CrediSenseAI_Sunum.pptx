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553d81b56c604d86" Type="http://schemas.openxmlformats.org/officeDocument/2006/relationships/officeDocument" Target="ppt/presentation.xml"/><Relationship Id="Rc1d10a21f7414169" Type="http://schemas.openxmlformats.org/package/2006/relationships/metadata/core-properties" Target="docProps/core.xml"/><Relationship Id="Rdea03b13ecea4f79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e10f595c5c4b3a"/>
  </p:sldMasterIdLst>
  <p:notesMasterIdLst>
    <p:notesMasterId xmlns:r="http://schemas.openxmlformats.org/officeDocument/2006/relationships" r:id="R06ed2ff953164411"/>
  </p:notesMasterIdLst>
  <p:sldIdLst>
    <p:sldId xmlns:r="http://schemas.openxmlformats.org/officeDocument/2006/relationships" id="256" r:id="R025f784f2f474381"/>
    <p:sldId xmlns:r="http://schemas.openxmlformats.org/officeDocument/2006/relationships" id="257" r:id="Rcdf2d5bf624c44d8"/>
    <p:sldId xmlns:r="http://schemas.openxmlformats.org/officeDocument/2006/relationships" id="258" r:id="Rf8cb090a2d8e4b80"/>
    <p:sldId xmlns:r="http://schemas.openxmlformats.org/officeDocument/2006/relationships" id="259" r:id="R7d818baf0ecc4c0f"/>
    <p:sldId xmlns:r="http://schemas.openxmlformats.org/officeDocument/2006/relationships" id="260" r:id="R3c4fc0e33e094ea3"/>
    <p:sldId xmlns:r="http://schemas.openxmlformats.org/officeDocument/2006/relationships" id="261" r:id="R6dd087a11194493c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025f784f2f474381" Type="http://schemas.openxmlformats.org/officeDocument/2006/relationships/slide" Target="slides/slide1.xml"/><Relationship Id="R06ed2ff953164411" Type="http://schemas.openxmlformats.org/officeDocument/2006/relationships/notesMaster" Target="notesMasters/notesMaster1.xml"/><Relationship Id="R3c4fc0e33e094ea3" Type="http://schemas.openxmlformats.org/officeDocument/2006/relationships/slide" Target="slides/slide5.xml"/><Relationship Id="R6992adaf4ed74231" Type="http://schemas.openxmlformats.org/officeDocument/2006/relationships/viewProps" Target="viewProps.xml"/><Relationship Id="R6dd087a11194493c" Type="http://schemas.openxmlformats.org/officeDocument/2006/relationships/slide" Target="slides/slide6.xml"/><Relationship Id="R7d818baf0ecc4c0f" Type="http://schemas.openxmlformats.org/officeDocument/2006/relationships/slide" Target="slides/slide4.xml"/><Relationship Id="R95059defe9fe4f7f" Type="http://schemas.openxmlformats.org/officeDocument/2006/relationships/presProps" Target="presProps.xml"/><Relationship Id="Rb6e10f595c5c4b3a" Type="http://schemas.openxmlformats.org/officeDocument/2006/relationships/slideMaster" Target="slideMasters/slideMaster1.xml"/><Relationship Id="Rba179034539b4814" Type="http://schemas.openxmlformats.org/officeDocument/2006/relationships/theme" Target="theme/theme1.xml"/><Relationship Id="Rcdf2d5bf624c44d8" Type="http://schemas.openxmlformats.org/officeDocument/2006/relationships/slide" Target="slides/slide2.xml"/><Relationship Id="Rf8cb090a2d8e4b80" Type="http://schemas.openxmlformats.org/officeDocument/2006/relationships/slide" Target="slides/slide3.xml"/><Relationship Id="Rfa4d5c922c54499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ebd5656f32584da3" Type="http://schemas.openxmlformats.org/officeDocument/2006/relationships/theme" Target="theme/theme2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bdcd1de4719d4301" Type="http://schemas.openxmlformats.org/officeDocument/2006/relationships/slide" Target="../slides/slide1.xml"/><Relationship Id="Rf7eb9e4a2d05477e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6e5008d2adf4402c" Type="http://schemas.openxmlformats.org/officeDocument/2006/relationships/slide" Target="../slides/slide2.xml"/><Relationship Id="Rd1a51340a322473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1b01ab8a6107473a" Type="http://schemas.openxmlformats.org/officeDocument/2006/relationships/slide" Target="../slides/slide3.xml"/><Relationship Id="R9ccb781d41f44c9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8c6ed36707694fbb" Type="http://schemas.openxmlformats.org/officeDocument/2006/relationships/notesMaster" Target="../notesMasters/notesMaster1.xml"/><Relationship Id="Rfa3e5dea67dd4dad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9447d2dca517425c" Type="http://schemas.openxmlformats.org/officeDocument/2006/relationships/notesMaster" Target="../notesMasters/notesMaster1.xml"/><Relationship Id="Rd39319d9ad344d1e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e1223552a00f4238" Type="http://schemas.openxmlformats.org/officeDocument/2006/relationships/slide" Target="../slides/slide6.xml"/><Relationship Id="Re8eb98915c034b99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<?xml version='1.0' encoding='UTF-8' standalone='yes'?>
<Relationships xmlns="http://schemas.openxmlformats.org/package/2006/relationships"><Relationship Id="R1791939c0dbb40d4" Type="http://schemas.openxmlformats.org/officeDocument/2006/relationships/slideMaster" Target="../slideMasters/slideMaster1.xml"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077da495eb44c07" Type="http://schemas.openxmlformats.org/officeDocument/2006/relationships/theme" Target="../theme/theme1.xml"/><Relationship Id="R770da1a70aab4a19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0da1a70aab4a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c08b7bd78f214291" Type="http://schemas.openxmlformats.org/officeDocument/2006/relationships/slideLayout" Target="../slideLayouts/slideLayout2.xml"/><Relationship Id="Rd04e030cef744fce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692c4827c8eb40cf" Type="http://schemas.openxmlformats.org/officeDocument/2006/relationships/notesSlide" Target="../notesSlides/notesSlide2.xml"/><Relationship Id="Rae4bff0291f349c8" Type="http://schemas.openxmlformats.org/officeDocument/2006/relationships/slideLayout" Target="../slideLayouts/slideLayout2.xml"/><Relationship Id="Rb86d576e68cd4d18" Type="http://schemas.openxmlformats.org/officeDocument/2006/relationships/chart" Target="charts/chart1.xml"/></Relationships>
</file>

<file path=ppt/slides/_rels/slide3.xml.rels><?xml version='1.0' encoding='UTF-8' standalone='yes'?>
<Relationships xmlns="http://schemas.openxmlformats.org/package/2006/relationships"><Relationship Id="R6ec34684cc71481a" Type="http://schemas.openxmlformats.org/officeDocument/2006/relationships/notesSlide" Target="../notesSlides/notesSlide3.xml"/><Relationship Id="R75a0bb3c0a574b73" Type="http://schemas.openxmlformats.org/officeDocument/2006/relationships/slideLayout" Target="../slideLayouts/slideLayout2.xml"/><Relationship Id="R858a520cc9984d88" Type="http://schemas.openxmlformats.org/officeDocument/2006/relationships/chart" Target="charts/chart2.xml"/></Relationships>
</file>

<file path=ppt/slides/_rels/slide4.xml.rels><?xml version='1.0' encoding='UTF-8' standalone='yes'?>
<Relationships xmlns="http://schemas.openxmlformats.org/package/2006/relationships"><Relationship Id="R604f5e12332146e3" Type="http://schemas.openxmlformats.org/officeDocument/2006/relationships/chart" Target="charts/chart3.xml"/><Relationship Id="R64ac090e64a44598" Type="http://schemas.openxmlformats.org/officeDocument/2006/relationships/slideLayout" Target="../slideLayouts/slideLayout2.xml"/><Relationship Id="Ra6346b1e89104c4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38fe0be4d89c4985" Type="http://schemas.openxmlformats.org/officeDocument/2006/relationships/chart" Target="charts/chart4.xml"/><Relationship Id="R549b65febb3640f2" Type="http://schemas.openxmlformats.org/officeDocument/2006/relationships/notesSlide" Target="../notesSlides/notesSlide5.xml"/><Relationship Id="R792e97fc67314658" Type="http://schemas.openxmlformats.org/officeDocument/2006/relationships/slideLayout" Target="../slideLayouts/slideLayout2.xml"/><Relationship Id="Ra81619b8a2804376" Type="http://schemas.openxmlformats.org/officeDocument/2006/relationships/chart" Target="charts/chart5.xml"/></Relationships>
</file>

<file path=ppt/slides/_rels/slide6.xml.rels><?xml version='1.0' encoding='UTF-8' standalone='yes'?>
<Relationships xmlns="http://schemas.openxmlformats.org/package/2006/relationships"><Relationship Id="R8b33e5bac8ce4148" Type="http://schemas.openxmlformats.org/officeDocument/2006/relationships/notesSlide" Target="../notesSlides/notesSlide6.xml"/><Relationship Id="Racf1ffed96bc4ab8" Type="http://schemas.openxmlformats.org/officeDocument/2006/relationships/slideLayout" Target="../slideLayouts/slideLayout2.xml"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Lojistik Regresyon</c:v>
          </c:tx>
          <c:spPr>
            <a:solidFill xmlns:a="http://schemas.openxmlformats.org/drawingml/2006/main">
              <a:srgbClr val="F59E0B"/>
            </a:solidFill>
          </c:spPr>
          <c:cat>
            <c:strLit>
              <c:ptCount val="5"/>
              <c:pt idx="0">
                <c:v>Accuracy</c:v>
              </c:pt>
              <c:pt idx="1">
                <c:v>Precision</c:v>
              </c:pt>
              <c:pt idx="2">
                <c:v>Recall</c:v>
              </c:pt>
              <c:pt idx="3">
                <c:v>F1</c:v>
              </c:pt>
              <c:pt idx="4">
                <c:v>ROC-AUC</c:v>
              </c:pt>
            </c:strLit>
          </c:cat>
          <c:val>
            <c:numLit>
              <c:formatCode>0</c:formatCode>
              <c:ptCount val="5"/>
              <c:pt idx="0">
                <c:v>78</c:v>
              </c:pt>
              <c:pt idx="1">
                <c:v>18</c:v>
              </c:pt>
              <c:pt idx="2">
                <c:v>67</c:v>
              </c:pt>
              <c:pt idx="3">
                <c:v>29</c:v>
              </c:pt>
              <c:pt idx="4">
                <c:v>80</c:v>
              </c:pt>
            </c:numLit>
          </c:val>
        </c:ser>
        <c:ser>
          <c:idx val="1"/>
          <c:order val="1"/>
          <c:tx>
            <c:v>Random Forest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5"/>
              <c:pt idx="0">
                <c:v>Accuracy</c:v>
              </c:pt>
              <c:pt idx="1">
                <c:v>Precision</c:v>
              </c:pt>
              <c:pt idx="2">
                <c:v>Recall</c:v>
              </c:pt>
              <c:pt idx="3">
                <c:v>F1</c:v>
              </c:pt>
              <c:pt idx="4">
                <c:v>ROC-AUC</c:v>
              </c:pt>
            </c:strLit>
          </c:cat>
          <c:val>
            <c:numLit>
              <c:formatCode>0</c:formatCode>
              <c:ptCount val="5"/>
              <c:pt idx="0">
                <c:v>82</c:v>
              </c:pt>
              <c:pt idx="1">
                <c:v>24</c:v>
              </c:pt>
              <c:pt idx="2">
                <c:v>75</c:v>
              </c:pt>
              <c:pt idx="3">
                <c:v>36</c:v>
              </c:pt>
              <c:pt idx="4">
                <c:v>87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DEE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4155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 b="1">
                    <a:solidFill>
                      <a:srgbClr val="334155"/>
                    </a:solidFill>
                  </a:rPr>
                  <a:t>Skor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334155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DEE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4155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/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Precision</c:v>
          </c:tx>
          <c:spPr>
            <a:solidFill xmlns:a="http://schemas.openxmlformats.org/drawingml/2006/main">
              <a:srgbClr val="F59E0B"/>
            </a:solidFill>
          </c:spPr>
          <c:cat>
            <c:strLit>
              <c:ptCount val="2"/>
              <c:pt idx="0">
                <c:v>Lojistik Regresyon</c:v>
              </c:pt>
              <c:pt idx="1">
                <c:v>Random Forest</c:v>
              </c:pt>
            </c:strLit>
          </c:cat>
          <c:val>
            <c:numLit>
              <c:formatCode>0</c:formatCode>
              <c:ptCount val="2"/>
              <c:pt idx="0">
                <c:v>18</c:v>
              </c:pt>
              <c:pt idx="1">
                <c:v>24</c:v>
              </c:pt>
            </c:numLit>
          </c:val>
        </c:ser>
        <c:ser>
          <c:idx val="1"/>
          <c:order val="1"/>
          <c:tx>
            <c:v>Recall</c:v>
          </c:tx>
          <c:spPr>
            <a:solidFill xmlns:a="http://schemas.openxmlformats.org/drawingml/2006/main">
              <a:srgbClr val="0F766E"/>
            </a:solidFill>
          </c:spPr>
          <c:cat>
            <c:strLit>
              <c:ptCount val="2"/>
              <c:pt idx="0">
                <c:v>Lojistik Regresyon</c:v>
              </c:pt>
              <c:pt idx="1">
                <c:v>Random Forest</c:v>
              </c:pt>
            </c:strLit>
          </c:cat>
          <c:val>
            <c:numLit>
              <c:formatCode>0</c:formatCode>
              <c:ptCount val="2"/>
              <c:pt idx="0">
                <c:v>67</c:v>
              </c:pt>
              <c:pt idx="1">
                <c:v>75</c:v>
              </c:pt>
            </c:numLit>
          </c:val>
        </c:ser>
        <c:ser>
          <c:idx val="2"/>
          <c:order val="2"/>
          <c:tx>
            <c:v>F1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2"/>
              <c:pt idx="0">
                <c:v>Lojistik Regresyon</c:v>
              </c:pt>
              <c:pt idx="1">
                <c:v>Random Forest</c:v>
              </c:pt>
            </c:strLit>
          </c:cat>
          <c:val>
            <c:numLit>
              <c:formatCode>0</c:formatCode>
              <c:ptCount val="2"/>
              <c:pt idx="0">
                <c:v>29</c:v>
              </c:pt>
              <c:pt idx="1">
                <c:v>36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DEE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4155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 b="1">
                    <a:solidFill>
                      <a:srgbClr val="334155"/>
                    </a:solidFill>
                  </a:rPr>
                  <a:t>Skor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334155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DEE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4155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/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Lojistik Regresyon</c:v>
          </c:tx>
          <c:spPr>
            <a:solidFill xmlns:a="http://schemas.openxmlformats.org/drawingml/2006/main">
              <a:srgbClr val="F59E0B"/>
            </a:solidFill>
          </c:spPr>
          <c:cat>
            <c:strLit>
              <c:ptCount val="4"/>
              <c:pt idx="0">
                <c:v>True Negative</c:v>
              </c:pt>
              <c:pt idx="1">
                <c:v>False Positive</c:v>
              </c:pt>
              <c:pt idx="2">
                <c:v>False Negative</c:v>
              </c:pt>
              <c:pt idx="3">
                <c:v>True Positive</c:v>
              </c:pt>
            </c:strLit>
          </c:cat>
          <c:val>
            <c:numLit>
              <c:formatCode>0</c:formatCode>
              <c:ptCount val="4"/>
              <c:pt idx="0">
                <c:v>21969</c:v>
              </c:pt>
              <c:pt idx="1">
                <c:v>6026</c:v>
              </c:pt>
              <c:pt idx="2">
                <c:v>666</c:v>
              </c:pt>
              <c:pt idx="3">
                <c:v>1339</c:v>
              </c:pt>
            </c:numLit>
          </c:val>
        </c:ser>
        <c:ser>
          <c:idx val="1"/>
          <c:order val="1"/>
          <c:tx>
            <c:v>Random Forest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4"/>
              <c:pt idx="0">
                <c:v>True Negative</c:v>
              </c:pt>
              <c:pt idx="1">
                <c:v>False Positive</c:v>
              </c:pt>
              <c:pt idx="2">
                <c:v>False Negative</c:v>
              </c:pt>
              <c:pt idx="3">
                <c:v>True Positive</c:v>
              </c:pt>
            </c:strLit>
          </c:cat>
          <c:val>
            <c:numLit>
              <c:formatCode>0</c:formatCode>
              <c:ptCount val="4"/>
              <c:pt idx="0">
                <c:v>23185</c:v>
              </c:pt>
              <c:pt idx="1">
                <c:v>4810</c:v>
              </c:pt>
              <c:pt idx="2">
                <c:v>502</c:v>
              </c:pt>
              <c:pt idx="3">
                <c:v>1503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DEE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4155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 b="1">
                    <a:solidFill>
                      <a:srgbClr val="334155"/>
                    </a:solidFill>
                  </a:rPr>
                  <a:t>Kayıt sayısı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334155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DEE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4155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/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Kayıt sayısı</c:v>
          </c:tx>
          <c:spPr>
            <a:solidFill xmlns:a="http://schemas.openxmlformats.org/drawingml/2006/main">
              <a:srgbClr val="0F766E"/>
            </a:solidFill>
          </c:spPr>
          <c:cat>
            <c:strLit>
              <c:ptCount val="2"/>
              <c:pt idx="0">
                <c:v>Düşük risk</c:v>
              </c:pt>
              <c:pt idx="1">
                <c:v>Yüksek risk</c:v>
              </c:pt>
            </c:strLit>
          </c:cat>
          <c:val>
            <c:numLit>
              <c:formatCode>0</c:formatCode>
              <c:ptCount val="2"/>
              <c:pt idx="0">
                <c:v>139974</c:v>
              </c:pt>
              <c:pt idx="1">
                <c:v>10026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DEE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4155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 b="1">
                    <a:solidFill>
                      <a:srgbClr val="334155"/>
                    </a:solidFill>
                  </a:rPr>
                  <a:t>Kayıt sayısı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334155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DEE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4155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5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7C3AED"/>
            </a:solidFill>
          </c:spPr>
          <c:cat>
            <c:strLit>
              <c:ptCount val="2"/>
              <c:pt idx="0">
                <c:v>Lojistik Regresyon</c:v>
              </c:pt>
              <c:pt idx="1">
                <c:v>Random Forest</c:v>
              </c:pt>
            </c:strLit>
          </c:cat>
          <c:val>
            <c:numLit>
              <c:formatCode>0</c:formatCode>
              <c:ptCount val="2"/>
              <c:pt idx="0">
                <c:v>78</c:v>
              </c:pt>
              <c:pt idx="1">
                <c:v>82</c:v>
              </c:pt>
            </c:numLit>
          </c:val>
        </c:ser>
        <c:ser>
          <c:idx val="1"/>
          <c:order val="1"/>
          <c:tx>
            <c:v>F1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2"/>
              <c:pt idx="0">
                <c:v>Lojistik Regresyon</c:v>
              </c:pt>
              <c:pt idx="1">
                <c:v>Random Forest</c:v>
              </c:pt>
            </c:strLit>
          </c:cat>
          <c:val>
            <c:numLit>
              <c:formatCode>0</c:formatCode>
              <c:ptCount val="2"/>
              <c:pt idx="0">
                <c:v>29</c:v>
              </c:pt>
              <c:pt idx="1">
                <c:v>36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DEE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4155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 b="1">
                    <a:solidFill>
                      <a:srgbClr val="334155"/>
                    </a:solidFill>
                  </a:rPr>
                  <a:t>Skor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334155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DEE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4155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/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DB6114-EC01-452B-8A93-8E84ADE4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D8DEE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EF20A-F862-473C-99B1-61DFBEED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D8DEE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2F0CA-8C52-4C1A-A06C-8C815065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1143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D8DEE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CE5C2-75BA-4723-A869-909F8BE1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CrediSense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E7B56-A035-464A-8EA6-5817B742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335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Model Skor Grafikleri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76E52-AE1F-4D90-9A3E-8708639D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942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Risk modeli eğitiminde karşılaştırılan modellerin performans skorları ve hata dağılımları.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02215-6607-419B-94C4-2BAB9EAB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466850"/>
            <a:ext cx="323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7917A-0865-4FAB-84F9-54E73742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2004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 karşılaştırıldı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8E9C6-1333-4EEB-A621-7AE1EDD9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solidFill>
              <a:srgbClr val="D8DEE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C34C4-8AB6-4D74-AD94-3F857C62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Seçilen model: Random Forest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F1813A-4994-431C-9E13-B4CDAFBC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293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F1: %36 | ROC-AUC: %87 | Recall: %75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1C372-000E-4813-9075-6BE9F72E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866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Veri seti: 150.000 kayıt, 17 özellik kolonu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1C70C3-03CC-4CC8-9870-5B1BAB60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8183879"/>
            <a:ext cx="1092708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 wrap="square" lIns="164592" rIns="164592" tIns="73152" bIns="54864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rial"/>
              </a:rPr>
              <a:t>Öncelik: Recall  </a:t>
            </a:r>
            <a:r>
              <a:rPr sz="1260" b="0">
                <a:solidFill>
                  <a:srgbClr val="4B5563"/>
                </a:solidFill>
                <a:latin typeface="Arial"/>
              </a:rPr>
              <a:t>Karar destek senaryosunda riskli başvuruları kaçırmamak F1 skorundan daha kritik okunur.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C90F8-7C46-4E6F-A838-80F2FEE6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964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Kaynak: modeller/risk_modeli_sonuclari.json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60352-BC23-4FF7-BA89-CC76A1F7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96964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CrediSense AI model skor grafikleri | 1</a:t>
            </a:r>
          </a:p>
        </p:txBody>
      </p:sp>
    </p:spTree>
    <p:extLst>
      <p:ext uri="{BB962C8B-B14F-4D97-AF65-F5344CB8AC3E}">
        <p14:creationId xmlns:p14="http://schemas.microsoft.com/office/powerpoint/2010/main" val="15902085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551EBE-28F4-42A2-8731-6A247BE4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D8DEE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8CEC8-CD8C-4005-BC63-C2011B69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"/>
            <a:ext cx="1257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Tüm model skorları aynı grafikte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AE7D2-8559-4C39-ACB9-06D1D020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33500"/>
            <a:ext cx="1447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Accuracy, Precision, Recall, F1 ve ROC-AUC skorları model serileriyle karşılaştırıldı.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39FBA-96FA-4EF3-8044-3D9C9E7F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D8DEE9"/>
            </a:solidFill>
          </a:ln>
        </p:spPr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1085850" y="2533650"/>
          <a:ext xmlns:a="http://schemas.openxmlformats.org/drawingml/2006/main" cx="12192000" cy="581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6d576e68cd4d1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BA218-E1B4-4E8C-8DE2-8238AA62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781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Kazanan sinyal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3624C-E6B1-48B0-8146-D81B96E8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3314700"/>
            <a:ext cx="3524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Random Forest tüm ana metriklerde Lojistik Regresyon'un önünde; en belirgin fark F1 ve ROC-AUC tarafında.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2EE27-31AD-41F8-A8A5-9DF29B46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52197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En iyi F1: %36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4CC92A-2318-4D96-AD78-F44D2BF3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07695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En iyi ROC-AUC: %87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A4512D-6B51-4EB2-9CE8-152F6CD2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964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Kaynak: modeller/risk_modeli_sonuclari.json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6FCCF8-BCB6-4D60-A63B-1F1A7BCC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96964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CrediSense AI model skor grafikleri | 2</a:t>
            </a:r>
          </a:p>
        </p:txBody>
      </p:sp>
    </p:spTree>
    <p:extLst>
      <p:ext uri="{BB962C8B-B14F-4D97-AF65-F5344CB8AC3E}">
        <p14:creationId xmlns:p14="http://schemas.microsoft.com/office/powerpoint/2010/main" val="775769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565AE7-2168-4915-8ED9-9E9571CE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D8DEE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D74A2-B78B-4F26-BEB2-62389B0E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"/>
            <a:ext cx="1257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Yüksek risk yakalama metrikleri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23A46-A376-4A59-8DAB-D92D3CC1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33500"/>
            <a:ext cx="1447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Azınlık sınıfı yakalama kabiliyeti için Precision, Recall ve F1 ayrı okunmalı.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A5AED-B7CB-4400-905C-98AAB1EF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D8DEE9"/>
            </a:solidFill>
          </a:ln>
        </p:spPr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1104900" y="2590800"/>
          <a:ext xmlns:a="http://schemas.openxmlformats.org/drawingml/2006/main" cx="11049000" cy="561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8a520cc9984d8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18F44-A060-484A-B859-7E7A3B92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2807208"/>
            <a:ext cx="32004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 lIns="0" rIns="0" t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00" b="1">
                <a:solidFill>
                  <a:srgbClr val="2563EB"/>
                </a:solidFill>
                <a:latin typeface="Arial"/>
              </a:rPr>
              <a:t>Recall artışı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E7999-8FAA-4F47-8A29-E22CAC6D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3383280"/>
            <a:ext cx="388620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Lojistik Regresyon %67, Random Forest %75 recall üretiyor. Bu, yüksek riskli başvuruları kaçırmama hedefi için kritik.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05AA5-F877-431A-94E9-19F60B8D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0160" y="5120640"/>
            <a:ext cx="4251960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15240">
            <a:solidFill>
              <a:srgbClr val="F59E0B"/>
            </a:solidFill>
          </a:ln>
        </p:spPr>
        <p:txBody>
          <a:bodyPr xmlns:a="http://schemas.openxmlformats.org/drawingml/2006/main" anchor="t" wrap="square" lIns="182880" rIns="164592" tIns="109728" bIns="73152">
            <a:norm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defRPr sz="15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580" b="1">
                <a:solidFill>
                  <a:srgbClr val="111827"/>
                </a:solidFill>
                <a:latin typeface="Arial"/>
              </a:rPr>
              <a:t>Karar destek yorumu</a:t>
            </a:r>
          </a:p>
          <a:p xmlns:a="http://schemas.openxmlformats.org/drawingml/2006/main">
            <a:pPr algn="l">
              <a:spcAft>
                <a:spcPts val="0"/>
              </a:spcAft>
            </a:pPr>
            <a:r>
              <a:rPr sz="1320" b="0">
                <a:solidFill>
                  <a:srgbClr val="4B5563"/>
                </a:solidFill>
                <a:latin typeface="Arial"/>
              </a:rPr>
              <a:t>Bu çalışmada amaç riskli başvuruları kaçırmamaktır; bu yüzden recall, F1 düşük görünse bile ana değerlendirme metriğidir.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0FA31-74F3-4C6C-84A4-7033CB70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964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Kaynak: modeller/risk_modeli_sonuclari.json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34D33-BF4F-4B45-B4AD-EE2B780B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96964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CrediSense AI model skor grafikleri | 3</a:t>
            </a:r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12710160" y="5120640"/>
            <a:ext cx="73152" cy="14813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57119248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73E498-327B-4F45-A835-448028AE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D8DEE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B82C4-BE3D-4C1B-AE9F-86F45DB9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"/>
            <a:ext cx="1257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Karışıklık matrisi çıktıları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A5869-29FC-4716-A2A8-A2C166CB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33500"/>
            <a:ext cx="1447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Her modelin doğru/yanlış sınıflandırma sayıları aynı eksende gösterildi.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D5AB3-EACE-4E7E-908E-1BD78C40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D8DEE9"/>
            </a:solidFill>
          </a:ln>
        </p:spPr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1066800" y="2609850"/>
          <a:ext xmlns:a="http://schemas.openxmlformats.org/drawingml/2006/main" cx="12001500" cy="561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4f5e12332146e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E3119-F0A3-4398-A1AD-33E752F3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857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884FC-1EAF-420D-AAF7-B79FDDFD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448050"/>
            <a:ext cx="3714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Daha fazla gerçek pozitif yakalıyor ve yanlış negatifi düşürüyor. Yanlış pozitif sayısı da Lojistik Regresyon'a göre daha düşük.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859A4-F077-4E15-B331-9C97595E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3911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TP: 1.503 | FN: 502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F0029C-1E9D-45A6-A401-54B94AA7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964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Kaynak: modeller/risk_modeli_sonuclari.json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8EAEBC-1F0B-4CC7-A581-835ADBBC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96964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CrediSense AI model skor grafikleri | 4</a:t>
            </a:r>
          </a:p>
        </p:txBody>
      </p:sp>
    </p:spTree>
    <p:extLst>
      <p:ext uri="{BB962C8B-B14F-4D97-AF65-F5344CB8AC3E}">
        <p14:creationId xmlns:p14="http://schemas.microsoft.com/office/powerpoint/2010/main" val="126263515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E99E8F-5A02-4FD2-BBAE-120F10C6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D8DEE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B60AB-4917-458A-87EC-2AF2B40C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"/>
            <a:ext cx="1257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Model skoru veri dengesizliğiyle okunmalı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D32AD-B243-46F2-A870-B65231CA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33500"/>
            <a:ext cx="1447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Yüksek risk sınıfı veri setinde azınlıkta olduğu için tek başına accuracy yeterli değildir.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56B9C-0216-40D2-83EC-837014E4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D8DEE9"/>
            </a:solidFill>
          </a:ln>
        </p:spPr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1200150" y="2686050"/>
          <a:ext xmlns:a="http://schemas.openxmlformats.org/drawingml/2006/main" cx="7429500" cy="5334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fe0be4d89c4985"/>
          </a:graphicData>
        </a:graphic>
      </p:graphicFrame>
      <p:graphicFrame>
        <p:nvGraphicFramePr>
          <p:cNvPr id="6" name="Chart"/>
          <p:cNvGraphicFramePr/>
          <p:nvPr/>
        </p:nvGraphicFramePr>
        <p:xfrm>
          <a:off xmlns:a="http://schemas.openxmlformats.org/drawingml/2006/main" x="9677400" y="2686050"/>
          <a:ext xmlns:a="http://schemas.openxmlformats.org/drawingml/2006/main" cx="7429500" cy="5334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81619b8a280437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96313-CBBA-4A2D-BE3D-3D48185D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275320"/>
            <a:ext cx="1271016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anchor="t" wrap="square" lIns="164592" rIns="164592" tIns="82296" bIns="54864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0" b="1">
                <a:solidFill>
                  <a:srgbClr val="1E40AF"/>
                </a:solidFill>
                <a:latin typeface="Arial"/>
              </a:rPr>
              <a:t>Okuma notu: </a:t>
            </a:r>
            <a:r>
              <a:rPr sz="1230" b="0">
                <a:solidFill>
                  <a:srgbClr val="4B5563"/>
                </a:solidFill>
                <a:latin typeface="Arial"/>
              </a:rPr>
              <a:t>Veri dengesizliğinde accuracy tek başına yeterli değildir; riskli başvuruları kaçırmamak için recall öne çıkar.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78731-ADB6-4BA8-941C-BDAE1F42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964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Kaynak: modeller/risk_modeli_sonuclari.json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F397F6-283F-43D7-B942-B1243083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96964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CrediSense AI model skor grafikleri | 5</a:t>
            </a:r>
          </a:p>
        </p:txBody>
      </p:sp>
    </p:spTree>
    <p:extLst>
      <p:ext uri="{BB962C8B-B14F-4D97-AF65-F5344CB8AC3E}">
        <p14:creationId xmlns:p14="http://schemas.microsoft.com/office/powerpoint/2010/main" val="15334421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82F07C-4C9A-44F4-8E3B-5CFFAF4B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D8DEE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8B66E-308F-4937-99E5-93C8ABE0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"/>
            <a:ext cx="1257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Tam model metrik tablosu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ECE2D-203F-4F48-B8DA-A4A4BE49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33500"/>
            <a:ext cx="1447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Grafiklerde kullanılan tüm model skorları ve hata sayıları.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12422-F7F2-4F18-8C01-9990249E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D8DEE9"/>
            </a:solidFill>
          </a:ln>
        </p:spPr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838200" y="2914650"/>
          <a:ext xmlns:a="http://schemas.openxmlformats.org/drawingml/2006/main" cx="16573500" cy="2476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3386412"/>
                <a:gridCol w="1713126"/>
                <a:gridCol w="1713126"/>
                <a:gridCol w="1713126"/>
                <a:gridCol w="1394405"/>
                <a:gridCol w="1713126"/>
                <a:gridCol w="1235044"/>
                <a:gridCol w="1235044"/>
                <a:gridCol w="1235044"/>
                <a:gridCol w="1235044"/>
              </a:tblGrid>
              <a:tr h="825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Model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Accuracy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Precision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Recall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F1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ROC-AUC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TN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FP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FN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TP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2563EB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Aptos"/>
                          <a:ea typeface="Aptos"/>
                          <a:cs typeface="Aptos"/>
                        </a:rPr>
                        <a:t>Lojistik Regresyon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Aptos"/>
                          <a:ea typeface="Aptos"/>
                          <a:cs typeface="Aptos"/>
                        </a:rPr>
                        <a:t>0.7769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Aptos"/>
                          <a:ea typeface="Aptos"/>
                          <a:cs typeface="Aptos"/>
                        </a:rPr>
                        <a:t>0.1818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Aptos"/>
                          <a:ea typeface="Aptos"/>
                          <a:cs typeface="Aptos"/>
                        </a:rPr>
                        <a:t>0.6678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Aptos"/>
                          <a:ea typeface="Aptos"/>
                          <a:cs typeface="Aptos"/>
                        </a:rPr>
                        <a:t>0.2858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Aptos"/>
                          <a:ea typeface="Aptos"/>
                          <a:cs typeface="Aptos"/>
                        </a:rPr>
                        <a:t>0.8018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Aptos"/>
                          <a:ea typeface="Aptos"/>
                          <a:cs typeface="Aptos"/>
                        </a:rPr>
                        <a:t>21969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Aptos"/>
                          <a:ea typeface="Aptos"/>
                          <a:cs typeface="Aptos"/>
                        </a:rPr>
                        <a:t>6026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Aptos"/>
                          <a:ea typeface="Aptos"/>
                          <a:cs typeface="Aptos"/>
                        </a:rPr>
                        <a:t>666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Aptos"/>
                          <a:ea typeface="Aptos"/>
                          <a:cs typeface="Aptos"/>
                        </a:rPr>
                        <a:t>1339</a:t>
                      </a:r>
                    </a:p>
                  </a:txBody>
                  <a:tcPr marL="91440" marR="91440" marT="45720" marB="45720"/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Aptos"/>
                          <a:ea typeface="Aptos"/>
                          <a:cs typeface="Aptos"/>
                        </a:rPr>
                        <a:t>Random Forest</a:t>
                      </a:r>
                    </a:p>
                  </a:txBody>
                  <a:tcPr marL="91440" marR="91440" marT="45720" marB="45720">
                    <a:lnB w="4763">
                      <a:solidFill>
                        <a:srgbClr val="D8DE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Aptos"/>
                          <a:ea typeface="Aptos"/>
                          <a:cs typeface="Aptos"/>
                        </a:rPr>
                        <a:t>0.8229</a:t>
                      </a:r>
                    </a:p>
                  </a:txBody>
                  <a:tcPr marL="91440" marR="91440" marT="45720" marB="45720">
                    <a:lnB w="4763">
                      <a:solidFill>
                        <a:srgbClr val="D8DE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Aptos"/>
                          <a:ea typeface="Aptos"/>
                          <a:cs typeface="Aptos"/>
                        </a:rPr>
                        <a:t>0.2381</a:t>
                      </a:r>
                    </a:p>
                  </a:txBody>
                  <a:tcPr marL="91440" marR="91440" marT="45720" marB="45720">
                    <a:lnB w="4763">
                      <a:solidFill>
                        <a:srgbClr val="D8DE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Aptos"/>
                          <a:ea typeface="Aptos"/>
                          <a:cs typeface="Aptos"/>
                        </a:rPr>
                        <a:t>0.7496</a:t>
                      </a:r>
                    </a:p>
                  </a:txBody>
                  <a:tcPr marL="91440" marR="91440" marT="45720" marB="45720">
                    <a:lnB w="4763">
                      <a:solidFill>
                        <a:srgbClr val="D8DE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Aptos"/>
                          <a:ea typeface="Aptos"/>
                          <a:cs typeface="Aptos"/>
                        </a:rPr>
                        <a:t>0.3614</a:t>
                      </a:r>
                    </a:p>
                  </a:txBody>
                  <a:tcPr marL="91440" marR="91440" marT="45720" marB="45720">
                    <a:lnB w="4763">
                      <a:solidFill>
                        <a:srgbClr val="D8DE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Aptos"/>
                          <a:ea typeface="Aptos"/>
                          <a:cs typeface="Aptos"/>
                        </a:rPr>
                        <a:t>0.8681</a:t>
                      </a:r>
                    </a:p>
                  </a:txBody>
                  <a:tcPr marL="91440" marR="91440" marT="45720" marB="45720">
                    <a:lnB w="4763">
                      <a:solidFill>
                        <a:srgbClr val="D8DE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Aptos"/>
                          <a:ea typeface="Aptos"/>
                          <a:cs typeface="Aptos"/>
                        </a:rPr>
                        <a:t>23185</a:t>
                      </a:r>
                    </a:p>
                  </a:txBody>
                  <a:tcPr marL="91440" marR="91440" marT="45720" marB="45720">
                    <a:lnB w="4763">
                      <a:solidFill>
                        <a:srgbClr val="D8DE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Aptos"/>
                          <a:ea typeface="Aptos"/>
                          <a:cs typeface="Aptos"/>
                        </a:rPr>
                        <a:t>4810</a:t>
                      </a:r>
                    </a:p>
                  </a:txBody>
                  <a:tcPr marL="91440" marR="91440" marT="45720" marB="45720">
                    <a:lnB w="4763">
                      <a:solidFill>
                        <a:srgbClr val="D8DE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Aptos"/>
                          <a:ea typeface="Aptos"/>
                          <a:cs typeface="Aptos"/>
                        </a:rPr>
                        <a:t>502</a:t>
                      </a:r>
                    </a:p>
                  </a:txBody>
                  <a:tcPr marL="91440" marR="91440" marT="45720" marB="45720">
                    <a:lnB w="4763">
                      <a:solidFill>
                        <a:srgbClr val="D8DE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Aptos"/>
                          <a:ea typeface="Aptos"/>
                          <a:cs typeface="Aptos"/>
                        </a:rPr>
                        <a:t>1503</a:t>
                      </a:r>
                    </a:p>
                  </a:txBody>
                  <a:tcPr marL="91440" marR="91440" marT="45720" marB="45720">
                    <a:lnB w="4763">
                      <a:solidFill>
                        <a:srgbClr val="D8DEE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A91496-7DDB-49BF-8C9F-F131A996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Kaydedilen model: modeller\risk_modeli.pkl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0CAB0F-E9A7-493D-A835-8DB431AC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961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Özellik kolonu sayısı: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0220D-AAA6-4106-BE19-3C621C87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0"/>
            <a:ext cx="1466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yas, aylik_gelir, aylik_gelir_eksik, kredi_tutari, vade_ay, aylik_odeme_tutari, borc_orani, teminatsiz_kredi_kullanim_orani, gecikme_30_59_sayisi, gecikme_60_89_sayisi, gecikme_90_sayisi, toplam_gecikme_sayisi, gecikme_gun_sayisi, acik_kredi_sayisi, gayrimenkul_kredi_sayisi, bakmakla_yukumlu_kisi_sayisi, bakmakla_yukumlu_kisi_eksik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1C57D-9367-4E40-A2B4-C3F7F10C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613648"/>
            <a:ext cx="135788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11430">
            <a:solidFill>
              <a:srgbClr val="0F766E"/>
            </a:solidFill>
          </a:ln>
        </p:spPr>
        <p:txBody>
          <a:bodyPr xmlns:a="http://schemas.openxmlformats.org/drawingml/2006/main" anchor="t" wrap="square" lIns="164592" rIns="164592" tIns="64008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40" b="1">
                <a:solidFill>
                  <a:srgbClr val="0F766E"/>
                </a:solidFill>
                <a:latin typeface="Arial"/>
              </a:rPr>
              <a:t>Seçim gerekçesi: </a:t>
            </a:r>
            <a:r>
              <a:rPr sz="1210" b="0">
                <a:solidFill>
                  <a:srgbClr val="4B5563"/>
                </a:solidFill>
                <a:latin typeface="Arial"/>
              </a:rPr>
              <a:t>Random Forest, %75 recall ile riskli başvuruları daha iyi yakaladığı için karar destek senaryosunda öne çıkar.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EAD9B-7DFA-4DAC-A29D-9E3A6434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964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Kaynak: modeller/risk_modeli_sonuclari.json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7F258-B57F-4E89-92DE-5844B856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96964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CrediSense AI model skor grafikleri | 6</a:t>
            </a:r>
          </a:p>
        </p:txBody>
      </p:sp>
    </p:spTree>
    <p:extLst>
      <p:ext uri="{BB962C8B-B14F-4D97-AF65-F5344CB8AC3E}">
        <p14:creationId xmlns:p14="http://schemas.microsoft.com/office/powerpoint/2010/main" val="13772665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2026-05-23T13:22:23.9440000Z</dcterms:created>
  <dcterms:modified xsi:type="dcterms:W3CDTF">2026-05-23T13:22:23.9440000Z</dcterms:modified>
</coreProperties>
</file>